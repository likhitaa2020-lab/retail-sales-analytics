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antason Bold" charset="1" panose="00000000000000000000"/>
      <p:regular r:id="rId25"/>
    </p:embeddedFont>
    <p:embeddedFont>
      <p:font typeface="Arial Bold" charset="1" panose="020B0704020202020204"/>
      <p:regular r:id="rId26"/>
    </p:embeddedFont>
    <p:embeddedFont>
      <p:font typeface="Arial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10287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837203" y="-3232847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2466710"/>
            <a:ext cx="18288000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RETAIL SALES ANALYICS &amp; CUSTOMER SEGMENTATION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49984" y="6419850"/>
            <a:ext cx="7893659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TEAM MEMBERS:</a:t>
            </a:r>
          </a:p>
          <a:p>
            <a:pPr algn="l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V.JYOTHSNA(24BCD7240)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K.LIKHITA(24BCD7226)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1551" y="72009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717084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2677" y="1017670"/>
            <a:ext cx="14616623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1581" y="2734953"/>
            <a:ext cx="15946327" cy="702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Retail businesses generate large volumes of transaction data, but: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Poor customer understanding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Generic marketing strategies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No churn identification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No customer segmentation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 How can we transform raw retail data into meaningful insights and actionable business strategies?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4279" y="859473"/>
            <a:ext cx="10890353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1366" y="2946400"/>
            <a:ext cx="14809871" cy="638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We used an E-commerce retail dataset containing transactional data.</a:t>
            </a:r>
          </a:p>
          <a:p>
            <a:pPr algn="just">
              <a:lnSpc>
                <a:spcPts val="5039"/>
              </a:lnSpc>
            </a:pPr>
            <a:r>
              <a:rPr lang="en-US" b="true" sz="3599" u="sng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Key Features:</a:t>
            </a:r>
          </a:p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 ID</a:t>
            </a:r>
          </a:p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Invoice Date</a:t>
            </a:r>
          </a:p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</a:p>
          <a:p>
            <a:pPr algn="just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Quantity &amp; Price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Dataset contains thousands of real-world transactions 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2984" y="953769"/>
            <a:ext cx="16646316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9065" y="2368550"/>
            <a:ext cx="14809871" cy="702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Removed missing values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Filtered invalid transactions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Removed duplicates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Created Total Price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Ensured clean and reliable data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17356" y="-25654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613859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988951" y="8405128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5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5" y="0"/>
                </a:lnTo>
                <a:lnTo>
                  <a:pt x="5987225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6381745" y="-122260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3"/>
                </a:lnTo>
                <a:lnTo>
                  <a:pt x="0" y="580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97255" y="2825115"/>
            <a:ext cx="14149840" cy="57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b="true" sz="3599" u="sng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Title:</a:t>
            </a: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 Models Used and Justification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3599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RFM Analysis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Recency → Last purchase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Frequency → Purchase count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Monetary → Total spending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 To identify valuable customers based on behavior.</a:t>
            </a:r>
          </a:p>
          <a:p>
            <a:pPr algn="just">
              <a:lnSpc>
                <a:spcPts val="503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212163" y="2895230"/>
            <a:ext cx="4891466" cy="4891466"/>
          </a:xfrm>
          <a:custGeom>
            <a:avLst/>
            <a:gdLst/>
            <a:ahLst/>
            <a:cxnLst/>
            <a:rect r="r" b="b" t="t" l="l"/>
            <a:pathLst>
              <a:path h="4891466" w="4891466">
                <a:moveTo>
                  <a:pt x="0" y="0"/>
                </a:moveTo>
                <a:lnTo>
                  <a:pt x="4891466" y="0"/>
                </a:lnTo>
                <a:lnTo>
                  <a:pt x="4891466" y="4891465"/>
                </a:lnTo>
                <a:lnTo>
                  <a:pt x="0" y="4891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39355" y="857250"/>
            <a:ext cx="10009291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0"/>
              </a:lnSpc>
            </a:pPr>
            <a:r>
              <a:rPr lang="en-US" sz="8800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MODEL &amp; WHY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72043" y="859472"/>
            <a:ext cx="10009291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MODEL &amp; WHY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317" y="2867444"/>
            <a:ext cx="7570683" cy="57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3599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 K-Means Clustering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Groups customers into segments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No labeled data required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Helps in customer segmentation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Simple and efficient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</a:p>
        </p:txBody>
      </p:sp>
      <p:sp>
        <p:nvSpPr>
          <p:cNvPr name="AutoShape 10" id="10"/>
          <p:cNvSpPr/>
          <p:nvPr/>
        </p:nvSpPr>
        <p:spPr>
          <a:xfrm flipH="true">
            <a:off x="9410344" y="2962694"/>
            <a:ext cx="0" cy="56098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676689" y="3007419"/>
            <a:ext cx="8190903" cy="602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4"/>
              </a:lnSpc>
            </a:pPr>
            <a:r>
              <a:rPr lang="en-US" b="true" sz="3600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3.RANDOM FOREST (CHURN PREDICTION)</a:t>
            </a:r>
          </a:p>
          <a:p>
            <a:pPr algn="l">
              <a:lnSpc>
                <a:spcPts val="3204"/>
              </a:lnSpc>
            </a:pPr>
          </a:p>
          <a:p>
            <a:pPr algn="l" marL="777240" indent="-388620" lvl="1">
              <a:lnSpc>
                <a:spcPts val="3204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Predicts whether a customer will churn or not</a:t>
            </a:r>
          </a:p>
          <a:p>
            <a:pPr algn="l">
              <a:lnSpc>
                <a:spcPts val="3204"/>
              </a:lnSpc>
            </a:pPr>
          </a:p>
          <a:p>
            <a:pPr algn="l">
              <a:lnSpc>
                <a:spcPts val="3204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Why Random Forest?</a:t>
            </a:r>
          </a:p>
          <a:p>
            <a:pPr algn="l">
              <a:lnSpc>
                <a:spcPts val="3204"/>
              </a:lnSpc>
            </a:pPr>
          </a:p>
          <a:p>
            <a:pPr algn="l" marL="777240" indent="-388620" lvl="1">
              <a:lnSpc>
                <a:spcPts val="3204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 accuracy</a:t>
            </a:r>
          </a:p>
          <a:p>
            <a:pPr algn="l">
              <a:lnSpc>
                <a:spcPts val="3204"/>
              </a:lnSpc>
            </a:pPr>
          </a:p>
          <a:p>
            <a:pPr algn="l" marL="777240" indent="-388620" lvl="1">
              <a:lnSpc>
                <a:spcPts val="3204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Handles complex patterns</a:t>
            </a:r>
          </a:p>
          <a:p>
            <a:pPr algn="l">
              <a:lnSpc>
                <a:spcPts val="3204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Works well with tabular data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88676"/>
            <a:ext cx="12376375" cy="510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Feature Engineering (RFM)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 Segmentation (K-Means)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Churn Prediction (Random Forest)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Visualization &amp; Insights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038774" y="3319881"/>
            <a:ext cx="5791717" cy="4978005"/>
          </a:xfrm>
          <a:custGeom>
            <a:avLst/>
            <a:gdLst/>
            <a:ahLst/>
            <a:cxnLst/>
            <a:rect r="r" b="b" t="t" l="l"/>
            <a:pathLst>
              <a:path h="4978005" w="5791717">
                <a:moveTo>
                  <a:pt x="0" y="0"/>
                </a:moveTo>
                <a:lnTo>
                  <a:pt x="5791717" y="0"/>
                </a:lnTo>
                <a:lnTo>
                  <a:pt x="5791717" y="4978005"/>
                </a:lnTo>
                <a:lnTo>
                  <a:pt x="0" y="49780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14450" y="1050293"/>
            <a:ext cx="14613263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595629"/>
            <a:ext cx="9231206" cy="7275336"/>
          </a:xfrm>
          <a:custGeom>
            <a:avLst/>
            <a:gdLst/>
            <a:ahLst/>
            <a:cxnLst/>
            <a:rect r="r" b="b" t="t" l="l"/>
            <a:pathLst>
              <a:path h="7275336" w="9231206">
                <a:moveTo>
                  <a:pt x="0" y="0"/>
                </a:moveTo>
                <a:lnTo>
                  <a:pt x="9231206" y="0"/>
                </a:lnTo>
                <a:lnTo>
                  <a:pt x="9231206" y="7275336"/>
                </a:lnTo>
                <a:lnTo>
                  <a:pt x="0" y="7275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655" y="1085600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CUSTOMER SEGMENTATION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9906" y="3224631"/>
            <a:ext cx="7059478" cy="57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Customers grouped into: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 Value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Regular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At Risk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High-value customers contribute major revenue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Helps in targeted marketing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796359"/>
            <a:ext cx="8822308" cy="6949078"/>
          </a:xfrm>
          <a:custGeom>
            <a:avLst/>
            <a:gdLst/>
            <a:ahLst/>
            <a:cxnLst/>
            <a:rect r="r" b="b" t="t" l="l"/>
            <a:pathLst>
              <a:path h="6949078" w="8822308">
                <a:moveTo>
                  <a:pt x="0" y="0"/>
                </a:moveTo>
                <a:lnTo>
                  <a:pt x="8822308" y="0"/>
                </a:lnTo>
                <a:lnTo>
                  <a:pt x="8822308" y="6949078"/>
                </a:lnTo>
                <a:lnTo>
                  <a:pt x="0" y="6949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13829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CHURN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9822" y="3477159"/>
            <a:ext cx="7059478" cy="38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Identifies customers likely to leave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Significant number of customers are at risk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Helps in retention strategies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821755"/>
            <a:ext cx="8723842" cy="6991536"/>
          </a:xfrm>
          <a:custGeom>
            <a:avLst/>
            <a:gdLst/>
            <a:ahLst/>
            <a:cxnLst/>
            <a:rect r="r" b="b" t="t" l="l"/>
            <a:pathLst>
              <a:path h="6991536" w="8723842">
                <a:moveTo>
                  <a:pt x="0" y="0"/>
                </a:moveTo>
                <a:lnTo>
                  <a:pt x="8723842" y="0"/>
                </a:lnTo>
                <a:lnTo>
                  <a:pt x="8723842" y="6991536"/>
                </a:lnTo>
                <a:lnTo>
                  <a:pt x="0" y="69915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655" y="1037753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CUSTOMER LIFECYCLE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9822" y="3224631"/>
            <a:ext cx="7059478" cy="447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Customers classified as: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Warm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Lost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Helps track engagement levels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595629"/>
            <a:ext cx="8409688" cy="7081842"/>
          </a:xfrm>
          <a:custGeom>
            <a:avLst/>
            <a:gdLst/>
            <a:ahLst/>
            <a:cxnLst/>
            <a:rect r="r" b="b" t="t" l="l"/>
            <a:pathLst>
              <a:path h="7081842" w="8409688">
                <a:moveTo>
                  <a:pt x="0" y="0"/>
                </a:moveTo>
                <a:lnTo>
                  <a:pt x="8409688" y="0"/>
                </a:lnTo>
                <a:lnTo>
                  <a:pt x="8409688" y="7081842"/>
                </a:lnTo>
                <a:lnTo>
                  <a:pt x="0" y="7081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655" y="859473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SALES TREND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9582" y="3498532"/>
            <a:ext cx="7059478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Shows revenue variation over time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Helps identify business growth patterns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595629"/>
            <a:ext cx="7551343" cy="7259612"/>
          </a:xfrm>
          <a:custGeom>
            <a:avLst/>
            <a:gdLst/>
            <a:ahLst/>
            <a:cxnLst/>
            <a:rect r="r" b="b" t="t" l="l"/>
            <a:pathLst>
              <a:path h="7259612" w="7551343">
                <a:moveTo>
                  <a:pt x="0" y="0"/>
                </a:moveTo>
                <a:lnTo>
                  <a:pt x="7551343" y="0"/>
                </a:lnTo>
                <a:lnTo>
                  <a:pt x="7551343" y="7259612"/>
                </a:lnTo>
                <a:lnTo>
                  <a:pt x="0" y="72596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655" y="1085600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REVENUE BY SEGMENT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477159"/>
            <a:ext cx="7059478" cy="38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Revenue distribution across segments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High-value customers generate most revenue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2168">
            <a:off x="-2993613" y="-299906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17950" y="2367279"/>
            <a:ext cx="14252100" cy="7571428"/>
          </a:xfrm>
          <a:custGeom>
            <a:avLst/>
            <a:gdLst/>
            <a:ahLst/>
            <a:cxnLst/>
            <a:rect r="r" b="b" t="t" l="l"/>
            <a:pathLst>
              <a:path h="7571428" w="14252100">
                <a:moveTo>
                  <a:pt x="0" y="0"/>
                </a:moveTo>
                <a:lnTo>
                  <a:pt x="14252100" y="0"/>
                </a:lnTo>
                <a:lnTo>
                  <a:pt x="14252100" y="7571428"/>
                </a:lnTo>
                <a:lnTo>
                  <a:pt x="0" y="75714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655" y="1050861"/>
            <a:ext cx="15746690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POWER BI DASHBOARD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8958" y="72009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032061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8823" y="859473"/>
            <a:ext cx="10890353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4654" y="2274252"/>
            <a:ext cx="15487934" cy="766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Customers segmented into different groups: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 Value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Regular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At Risk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Churn prediction achieved good accuracy</a:t>
            </a: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Identified: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High-value customers contributing major revenue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Customers likely to churn</a:t>
            </a:r>
          </a:p>
          <a:p>
            <a:pPr algn="just" marL="1554474" indent="-518158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 lifecycle stages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Key Result: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 The system successfully converts raw data into actionable insights.</a:t>
            </a:r>
          </a:p>
          <a:p>
            <a:pPr algn="just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7648" y="1074217"/>
            <a:ext cx="13312771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BUSINESS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1366" y="2867444"/>
            <a:ext cx="12376375" cy="510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High-value customers drive majority revenue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Many customers are at risk of churn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 behavior varies significantly</a:t>
            </a:r>
          </a:p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Personalized strategies improve retention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6132" y="7064382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7" y="0"/>
                </a:lnTo>
                <a:lnTo>
                  <a:pt x="7059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476465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904705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3"/>
                </a:lnTo>
                <a:lnTo>
                  <a:pt x="0" y="580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41815" y="859473"/>
            <a:ext cx="10009291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COMPARISION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6843" y="2867444"/>
            <a:ext cx="6207834" cy="766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Traditional System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No segmentation               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Generic marketing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No churn prediction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Manual analysis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867444"/>
            <a:ext cx="7624420" cy="447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Our System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Customer segmentation using K-Means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Personalized strategies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ML-based churn prediction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Automated data-driven insights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9473"/>
            <a:ext cx="10009291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6816" y="3308399"/>
            <a:ext cx="13463424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b="true" sz="3600" u="sng">
                <a:solidFill>
                  <a:srgbClr val="0C3571"/>
                </a:solidFill>
                <a:latin typeface="Arial Bold"/>
                <a:ea typeface="Arial Bold"/>
                <a:cs typeface="Arial Bold"/>
                <a:sym typeface="Arial Bold"/>
              </a:rPr>
              <a:t>Final Outcome: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The system transforms raw retail data into actionable business strategies that improve customer retention and maximize revenue.</a:t>
            </a:r>
          </a:p>
          <a:p>
            <a:pPr algn="just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61822" y="2988332"/>
            <a:ext cx="3842012" cy="5129284"/>
          </a:xfrm>
          <a:custGeom>
            <a:avLst/>
            <a:gdLst/>
            <a:ahLst/>
            <a:cxnLst/>
            <a:rect r="r" b="b" t="t" l="l"/>
            <a:pathLst>
              <a:path h="5129284" w="3842012">
                <a:moveTo>
                  <a:pt x="0" y="0"/>
                </a:moveTo>
                <a:lnTo>
                  <a:pt x="3842011" y="0"/>
                </a:lnTo>
                <a:lnTo>
                  <a:pt x="3842011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4220" y="859473"/>
            <a:ext cx="10890353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b="true" sz="8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FUTURE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008405"/>
            <a:ext cx="11756940" cy="510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Real-time dashboard using Streamlit / Power BI</a:t>
            </a:r>
          </a:p>
          <a:p>
            <a:pPr algn="just">
              <a:lnSpc>
                <a:spcPts val="5039"/>
              </a:lnSpc>
            </a:pP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Recommendation system for products</a:t>
            </a:r>
          </a:p>
          <a:p>
            <a:pPr algn="just">
              <a:lnSpc>
                <a:spcPts val="5039"/>
              </a:lnSpc>
            </a:pP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Integration with business CRM systems</a:t>
            </a:r>
          </a:p>
          <a:p>
            <a:pPr algn="just">
              <a:lnSpc>
                <a:spcPts val="5039"/>
              </a:lnSpc>
            </a:pPr>
          </a:p>
          <a:p>
            <a:pPr algn="just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Arial"/>
                <a:ea typeface="Arial"/>
                <a:cs typeface="Arial"/>
                <a:sym typeface="Arial"/>
              </a:rPr>
              <a:t>Seasonal and festival-based sales prediction</a:t>
            </a:r>
          </a:p>
          <a:p>
            <a:pPr algn="just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963894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DAHHuUrrBGs</dc:identifier>
  <dcterms:modified xsi:type="dcterms:W3CDTF">2011-08-01T06:04:30Z</dcterms:modified>
  <cp:revision>1</cp:revision>
  <dc:title>RETAIL SALES ANALYICS</dc:title>
</cp:coreProperties>
</file>